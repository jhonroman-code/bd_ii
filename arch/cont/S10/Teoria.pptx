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Fira Sans" charset="1" panose="020B050305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37822" y="3743966"/>
            <a:ext cx="12637012" cy="2732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56"/>
              </a:lnSpc>
            </a:pPr>
            <a:r>
              <a:rPr lang="en-US" sz="8624" b="true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Administración Esencial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850106"/>
            <a:ext cx="9445526" cy="271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Estructura de Almacenamiento y Archivos de Datos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3895130"/>
            <a:ext cx="9445526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SQL Server organiza datos en archivos primarios (.mdf), secundarios (.ndf) y archivos de registro de transacciones (.ldf). La correcta distribución y tamaño de estos archivos impacta directamente en el rendimiento, velocidad de recuperación y disponibilidad del sistema.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850237" y="6123831"/>
            <a:ext cx="9445526" cy="3255764"/>
            <a:chOff x="0" y="0"/>
            <a:chExt cx="12594035" cy="434101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2594082" cy="4340987"/>
            </a:xfrm>
            <a:custGeom>
              <a:avLst/>
              <a:gdLst/>
              <a:ahLst/>
              <a:cxnLst/>
              <a:rect r="r" b="b" t="t" l="l"/>
              <a:pathLst>
                <a:path h="4340987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4340987"/>
                  </a:lnTo>
                  <a:lnTo>
                    <a:pt x="0" y="4340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" r="0" b="-1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834606" y="6492964"/>
            <a:ext cx="2221339" cy="29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Archivo primario MDF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34606" y="7173510"/>
            <a:ext cx="2665576" cy="29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Archivos secundarios NDF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34606" y="7865934"/>
            <a:ext cx="2554517" cy="29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Archivo de registro LDF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31961" y="893117"/>
            <a:ext cx="9566076" cy="1730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true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Propiedades y Configuraciones Clave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7674" y="3009007"/>
            <a:ext cx="4678412" cy="2471738"/>
            <a:chOff x="0" y="0"/>
            <a:chExt cx="6237883" cy="32956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9050" y="19050"/>
              <a:ext cx="6199759" cy="3257550"/>
            </a:xfrm>
            <a:custGeom>
              <a:avLst/>
              <a:gdLst/>
              <a:ahLst/>
              <a:cxnLst/>
              <a:rect r="r" b="b" t="t" l="l"/>
              <a:pathLst>
                <a:path h="3257550" w="6199759">
                  <a:moveTo>
                    <a:pt x="0" y="53213"/>
                  </a:moveTo>
                  <a:cubicBezTo>
                    <a:pt x="0" y="23876"/>
                    <a:pt x="24003" y="0"/>
                    <a:pt x="53594" y="0"/>
                  </a:cubicBezTo>
                  <a:lnTo>
                    <a:pt x="6146165" y="0"/>
                  </a:lnTo>
                  <a:cubicBezTo>
                    <a:pt x="6175756" y="0"/>
                    <a:pt x="6199759" y="23876"/>
                    <a:pt x="6199759" y="53213"/>
                  </a:cubicBezTo>
                  <a:lnTo>
                    <a:pt x="6199759" y="3204337"/>
                  </a:lnTo>
                  <a:cubicBezTo>
                    <a:pt x="6199759" y="3233801"/>
                    <a:pt x="6175756" y="3257550"/>
                    <a:pt x="6146165" y="3257550"/>
                  </a:cubicBezTo>
                  <a:lnTo>
                    <a:pt x="53594" y="3257550"/>
                  </a:lnTo>
                  <a:cubicBezTo>
                    <a:pt x="24003" y="3257550"/>
                    <a:pt x="0" y="3233674"/>
                    <a:pt x="0" y="3204337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37859" cy="3295650"/>
            </a:xfrm>
            <a:custGeom>
              <a:avLst/>
              <a:gdLst/>
              <a:ahLst/>
              <a:cxnLst/>
              <a:rect r="r" b="b" t="t" l="l"/>
              <a:pathLst>
                <a:path h="3295650" w="6237859">
                  <a:moveTo>
                    <a:pt x="0" y="72263"/>
                  </a:moveTo>
                  <a:cubicBezTo>
                    <a:pt x="0" y="32258"/>
                    <a:pt x="32639" y="0"/>
                    <a:pt x="72644" y="0"/>
                  </a:cubicBezTo>
                  <a:lnTo>
                    <a:pt x="6165215" y="0"/>
                  </a:lnTo>
                  <a:lnTo>
                    <a:pt x="6165215" y="19050"/>
                  </a:lnTo>
                  <a:lnTo>
                    <a:pt x="6165215" y="0"/>
                  </a:lnTo>
                  <a:cubicBezTo>
                    <a:pt x="6205220" y="0"/>
                    <a:pt x="6237859" y="32258"/>
                    <a:pt x="6237859" y="72263"/>
                  </a:cubicBezTo>
                  <a:lnTo>
                    <a:pt x="6218809" y="72263"/>
                  </a:lnTo>
                  <a:lnTo>
                    <a:pt x="6237859" y="72263"/>
                  </a:lnTo>
                  <a:lnTo>
                    <a:pt x="6237859" y="3223387"/>
                  </a:lnTo>
                  <a:lnTo>
                    <a:pt x="6218809" y="3223387"/>
                  </a:lnTo>
                  <a:lnTo>
                    <a:pt x="6237859" y="3223387"/>
                  </a:lnTo>
                  <a:cubicBezTo>
                    <a:pt x="6237859" y="3263392"/>
                    <a:pt x="6205220" y="3295650"/>
                    <a:pt x="6165215" y="3295650"/>
                  </a:cubicBezTo>
                  <a:lnTo>
                    <a:pt x="6165215" y="3276600"/>
                  </a:lnTo>
                  <a:lnTo>
                    <a:pt x="6165215" y="3295650"/>
                  </a:lnTo>
                  <a:lnTo>
                    <a:pt x="72644" y="3295650"/>
                  </a:lnTo>
                  <a:lnTo>
                    <a:pt x="72644" y="3276600"/>
                  </a:lnTo>
                  <a:lnTo>
                    <a:pt x="72644" y="3295650"/>
                  </a:lnTo>
                  <a:cubicBezTo>
                    <a:pt x="32639" y="3295650"/>
                    <a:pt x="0" y="3263392"/>
                    <a:pt x="0" y="3223387"/>
                  </a:cubicBezTo>
                  <a:lnTo>
                    <a:pt x="0" y="72263"/>
                  </a:lnTo>
                  <a:lnTo>
                    <a:pt x="19050" y="72263"/>
                  </a:lnTo>
                  <a:lnTo>
                    <a:pt x="0" y="72263"/>
                  </a:lnTo>
                  <a:moveTo>
                    <a:pt x="38100" y="72263"/>
                  </a:moveTo>
                  <a:lnTo>
                    <a:pt x="38100" y="3223387"/>
                  </a:lnTo>
                  <a:lnTo>
                    <a:pt x="19050" y="3223387"/>
                  </a:lnTo>
                  <a:lnTo>
                    <a:pt x="38100" y="3223387"/>
                  </a:lnTo>
                  <a:cubicBezTo>
                    <a:pt x="38100" y="3242183"/>
                    <a:pt x="53467" y="3257550"/>
                    <a:pt x="72644" y="3257550"/>
                  </a:cubicBezTo>
                  <a:lnTo>
                    <a:pt x="6165215" y="3257550"/>
                  </a:lnTo>
                  <a:cubicBezTo>
                    <a:pt x="6184392" y="3257550"/>
                    <a:pt x="6199759" y="3242183"/>
                    <a:pt x="6199759" y="3223387"/>
                  </a:cubicBezTo>
                  <a:lnTo>
                    <a:pt x="6199759" y="72263"/>
                  </a:lnTo>
                  <a:cubicBezTo>
                    <a:pt x="6199759" y="53467"/>
                    <a:pt x="6184392" y="38100"/>
                    <a:pt x="6165215" y="38100"/>
                  </a:cubicBezTo>
                  <a:lnTo>
                    <a:pt x="72644" y="38100"/>
                  </a:lnTo>
                  <a:lnTo>
                    <a:pt x="72644" y="19050"/>
                  </a:lnTo>
                  <a:lnTo>
                    <a:pt x="72644" y="38100"/>
                  </a:lnTo>
                  <a:cubicBezTo>
                    <a:pt x="53467" y="38100"/>
                    <a:pt x="38100" y="53467"/>
                    <a:pt x="38100" y="72263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26790" y="3289547"/>
            <a:ext cx="3660576" cy="44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Crecimiento Automático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6790" y="3808065"/>
            <a:ext cx="4060180" cy="136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Ajusta el tamaño de archivos según demanda para evitar errores por espacio insuficiente.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33765" y="3009007"/>
            <a:ext cx="4678561" cy="2471738"/>
            <a:chOff x="0" y="0"/>
            <a:chExt cx="6238082" cy="32956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9050" y="19050"/>
              <a:ext cx="6200013" cy="3257550"/>
            </a:xfrm>
            <a:custGeom>
              <a:avLst/>
              <a:gdLst/>
              <a:ahLst/>
              <a:cxnLst/>
              <a:rect r="r" b="b" t="t" l="l"/>
              <a:pathLst>
                <a:path h="3257550" w="6200013">
                  <a:moveTo>
                    <a:pt x="0" y="53213"/>
                  </a:moveTo>
                  <a:cubicBezTo>
                    <a:pt x="0" y="23876"/>
                    <a:pt x="24003" y="0"/>
                    <a:pt x="53594" y="0"/>
                  </a:cubicBezTo>
                  <a:lnTo>
                    <a:pt x="6146419" y="0"/>
                  </a:lnTo>
                  <a:cubicBezTo>
                    <a:pt x="6176010" y="0"/>
                    <a:pt x="6200013" y="23876"/>
                    <a:pt x="6200013" y="53213"/>
                  </a:cubicBezTo>
                  <a:lnTo>
                    <a:pt x="6200013" y="3204337"/>
                  </a:lnTo>
                  <a:cubicBezTo>
                    <a:pt x="6200013" y="3233801"/>
                    <a:pt x="6176010" y="3257550"/>
                    <a:pt x="6146419" y="3257550"/>
                  </a:cubicBezTo>
                  <a:lnTo>
                    <a:pt x="53594" y="3257550"/>
                  </a:lnTo>
                  <a:cubicBezTo>
                    <a:pt x="24003" y="3257550"/>
                    <a:pt x="0" y="3233674"/>
                    <a:pt x="0" y="3204337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38113" cy="3295650"/>
            </a:xfrm>
            <a:custGeom>
              <a:avLst/>
              <a:gdLst/>
              <a:ahLst/>
              <a:cxnLst/>
              <a:rect r="r" b="b" t="t" l="l"/>
              <a:pathLst>
                <a:path h="3295650" w="6238113">
                  <a:moveTo>
                    <a:pt x="0" y="72263"/>
                  </a:moveTo>
                  <a:cubicBezTo>
                    <a:pt x="0" y="32258"/>
                    <a:pt x="32639" y="0"/>
                    <a:pt x="72644" y="0"/>
                  </a:cubicBezTo>
                  <a:lnTo>
                    <a:pt x="6165469" y="0"/>
                  </a:lnTo>
                  <a:lnTo>
                    <a:pt x="6165469" y="19050"/>
                  </a:lnTo>
                  <a:lnTo>
                    <a:pt x="6165469" y="0"/>
                  </a:lnTo>
                  <a:cubicBezTo>
                    <a:pt x="6205474" y="0"/>
                    <a:pt x="6238113" y="32258"/>
                    <a:pt x="6238113" y="72263"/>
                  </a:cubicBezTo>
                  <a:lnTo>
                    <a:pt x="6219063" y="72263"/>
                  </a:lnTo>
                  <a:lnTo>
                    <a:pt x="6238113" y="72263"/>
                  </a:lnTo>
                  <a:lnTo>
                    <a:pt x="6238113" y="3223387"/>
                  </a:lnTo>
                  <a:lnTo>
                    <a:pt x="6219063" y="3223387"/>
                  </a:lnTo>
                  <a:lnTo>
                    <a:pt x="6238113" y="3223387"/>
                  </a:lnTo>
                  <a:cubicBezTo>
                    <a:pt x="6238113" y="3263392"/>
                    <a:pt x="6205474" y="3295650"/>
                    <a:pt x="6165469" y="3295650"/>
                  </a:cubicBezTo>
                  <a:lnTo>
                    <a:pt x="6165469" y="3276600"/>
                  </a:lnTo>
                  <a:lnTo>
                    <a:pt x="6165469" y="3295650"/>
                  </a:lnTo>
                  <a:lnTo>
                    <a:pt x="72644" y="3295650"/>
                  </a:lnTo>
                  <a:lnTo>
                    <a:pt x="72644" y="3276600"/>
                  </a:lnTo>
                  <a:lnTo>
                    <a:pt x="72644" y="3295650"/>
                  </a:lnTo>
                  <a:cubicBezTo>
                    <a:pt x="32639" y="3295650"/>
                    <a:pt x="0" y="3263392"/>
                    <a:pt x="0" y="3223387"/>
                  </a:cubicBezTo>
                  <a:lnTo>
                    <a:pt x="0" y="72263"/>
                  </a:lnTo>
                  <a:lnTo>
                    <a:pt x="19050" y="72263"/>
                  </a:lnTo>
                  <a:lnTo>
                    <a:pt x="0" y="72263"/>
                  </a:lnTo>
                  <a:moveTo>
                    <a:pt x="38100" y="72263"/>
                  </a:moveTo>
                  <a:lnTo>
                    <a:pt x="38100" y="3223387"/>
                  </a:lnTo>
                  <a:lnTo>
                    <a:pt x="19050" y="3223387"/>
                  </a:lnTo>
                  <a:lnTo>
                    <a:pt x="38100" y="3223387"/>
                  </a:lnTo>
                  <a:cubicBezTo>
                    <a:pt x="38100" y="3242183"/>
                    <a:pt x="53467" y="3257550"/>
                    <a:pt x="72644" y="3257550"/>
                  </a:cubicBezTo>
                  <a:lnTo>
                    <a:pt x="6165469" y="3257550"/>
                  </a:lnTo>
                  <a:cubicBezTo>
                    <a:pt x="6184646" y="3257550"/>
                    <a:pt x="6200013" y="3242183"/>
                    <a:pt x="6200013" y="3223387"/>
                  </a:cubicBezTo>
                  <a:lnTo>
                    <a:pt x="6200013" y="72263"/>
                  </a:lnTo>
                  <a:cubicBezTo>
                    <a:pt x="6200013" y="53467"/>
                    <a:pt x="6184646" y="38100"/>
                    <a:pt x="6165469" y="38100"/>
                  </a:cubicBezTo>
                  <a:lnTo>
                    <a:pt x="72644" y="38100"/>
                  </a:lnTo>
                  <a:lnTo>
                    <a:pt x="72644" y="19050"/>
                  </a:lnTo>
                  <a:lnTo>
                    <a:pt x="72644" y="38100"/>
                  </a:lnTo>
                  <a:cubicBezTo>
                    <a:pt x="53467" y="38100"/>
                    <a:pt x="38100" y="53467"/>
                    <a:pt x="38100" y="72263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142881" y="3289547"/>
            <a:ext cx="3328393" cy="44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Collation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42881" y="3808065"/>
            <a:ext cx="4060329" cy="136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Define el conjunto de caracteres y reglas de ordenamiento para compatibilidad regional.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7674" y="5718422"/>
            <a:ext cx="9594651" cy="2045791"/>
            <a:chOff x="0" y="0"/>
            <a:chExt cx="12792868" cy="272772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9050" y="19050"/>
              <a:ext cx="12754737" cy="2689606"/>
            </a:xfrm>
            <a:custGeom>
              <a:avLst/>
              <a:gdLst/>
              <a:ahLst/>
              <a:cxnLst/>
              <a:rect r="r" b="b" t="t" l="l"/>
              <a:pathLst>
                <a:path h="2689606" w="12754737">
                  <a:moveTo>
                    <a:pt x="0" y="53213"/>
                  </a:moveTo>
                  <a:cubicBezTo>
                    <a:pt x="0" y="23876"/>
                    <a:pt x="24130" y="0"/>
                    <a:pt x="53848" y="0"/>
                  </a:cubicBezTo>
                  <a:lnTo>
                    <a:pt x="12700889" y="0"/>
                  </a:lnTo>
                  <a:cubicBezTo>
                    <a:pt x="12730607" y="0"/>
                    <a:pt x="12754737" y="23876"/>
                    <a:pt x="12754737" y="53213"/>
                  </a:cubicBezTo>
                  <a:lnTo>
                    <a:pt x="12754737" y="2636393"/>
                  </a:lnTo>
                  <a:cubicBezTo>
                    <a:pt x="12754737" y="2665857"/>
                    <a:pt x="12730607" y="2689606"/>
                    <a:pt x="12700889" y="2689606"/>
                  </a:cubicBezTo>
                  <a:lnTo>
                    <a:pt x="53848" y="2689606"/>
                  </a:lnTo>
                  <a:cubicBezTo>
                    <a:pt x="24130" y="2689606"/>
                    <a:pt x="0" y="2665730"/>
                    <a:pt x="0" y="2636393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92837" cy="2727706"/>
            </a:xfrm>
            <a:custGeom>
              <a:avLst/>
              <a:gdLst/>
              <a:ahLst/>
              <a:cxnLst/>
              <a:rect r="r" b="b" t="t" l="l"/>
              <a:pathLst>
                <a:path h="2727706" w="12792837">
                  <a:moveTo>
                    <a:pt x="0" y="72263"/>
                  </a:moveTo>
                  <a:cubicBezTo>
                    <a:pt x="0" y="32131"/>
                    <a:pt x="32893" y="0"/>
                    <a:pt x="72898" y="0"/>
                  </a:cubicBezTo>
                  <a:lnTo>
                    <a:pt x="12719939" y="0"/>
                  </a:lnTo>
                  <a:lnTo>
                    <a:pt x="12719939" y="19050"/>
                  </a:lnTo>
                  <a:lnTo>
                    <a:pt x="12719939" y="0"/>
                  </a:lnTo>
                  <a:cubicBezTo>
                    <a:pt x="12759944" y="0"/>
                    <a:pt x="12792837" y="32131"/>
                    <a:pt x="12792837" y="72263"/>
                  </a:cubicBezTo>
                  <a:lnTo>
                    <a:pt x="12773787" y="72263"/>
                  </a:lnTo>
                  <a:lnTo>
                    <a:pt x="12792837" y="72263"/>
                  </a:lnTo>
                  <a:lnTo>
                    <a:pt x="12792837" y="2655443"/>
                  </a:lnTo>
                  <a:lnTo>
                    <a:pt x="12773787" y="2655443"/>
                  </a:lnTo>
                  <a:lnTo>
                    <a:pt x="12792837" y="2655443"/>
                  </a:lnTo>
                  <a:cubicBezTo>
                    <a:pt x="12792837" y="2695575"/>
                    <a:pt x="12759944" y="2727706"/>
                    <a:pt x="12719939" y="2727706"/>
                  </a:cubicBezTo>
                  <a:lnTo>
                    <a:pt x="12719939" y="2708656"/>
                  </a:lnTo>
                  <a:lnTo>
                    <a:pt x="12719939" y="2727706"/>
                  </a:lnTo>
                  <a:lnTo>
                    <a:pt x="72898" y="2727706"/>
                  </a:lnTo>
                  <a:lnTo>
                    <a:pt x="72898" y="2708656"/>
                  </a:lnTo>
                  <a:lnTo>
                    <a:pt x="72898" y="2727706"/>
                  </a:lnTo>
                  <a:cubicBezTo>
                    <a:pt x="32893" y="2727706"/>
                    <a:pt x="0" y="2695575"/>
                    <a:pt x="0" y="2655443"/>
                  </a:cubicBezTo>
                  <a:lnTo>
                    <a:pt x="0" y="72263"/>
                  </a:lnTo>
                  <a:lnTo>
                    <a:pt x="19050" y="72263"/>
                  </a:lnTo>
                  <a:lnTo>
                    <a:pt x="0" y="72263"/>
                  </a:lnTo>
                  <a:moveTo>
                    <a:pt x="38100" y="72263"/>
                  </a:moveTo>
                  <a:lnTo>
                    <a:pt x="38100" y="2655443"/>
                  </a:lnTo>
                  <a:lnTo>
                    <a:pt x="19050" y="2655443"/>
                  </a:lnTo>
                  <a:lnTo>
                    <a:pt x="38100" y="2655443"/>
                  </a:lnTo>
                  <a:cubicBezTo>
                    <a:pt x="38100" y="2674112"/>
                    <a:pt x="53467" y="2689606"/>
                    <a:pt x="72898" y="2689606"/>
                  </a:cubicBezTo>
                  <a:lnTo>
                    <a:pt x="12719939" y="2689606"/>
                  </a:lnTo>
                  <a:cubicBezTo>
                    <a:pt x="12739370" y="2689606"/>
                    <a:pt x="12754737" y="2674112"/>
                    <a:pt x="12754737" y="2655443"/>
                  </a:cubicBezTo>
                  <a:lnTo>
                    <a:pt x="12754737" y="72263"/>
                  </a:lnTo>
                  <a:cubicBezTo>
                    <a:pt x="12754737" y="53594"/>
                    <a:pt x="12739370" y="38100"/>
                    <a:pt x="12719939" y="38100"/>
                  </a:cubicBezTo>
                  <a:lnTo>
                    <a:pt x="72898" y="38100"/>
                  </a:lnTo>
                  <a:lnTo>
                    <a:pt x="72898" y="19050"/>
                  </a:lnTo>
                  <a:lnTo>
                    <a:pt x="72898" y="38100"/>
                  </a:lnTo>
                  <a:cubicBezTo>
                    <a:pt x="53467" y="38100"/>
                    <a:pt x="38100" y="53594"/>
                    <a:pt x="38100" y="72263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26790" y="5998964"/>
            <a:ext cx="3328393" cy="44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Nivel de Aislamiento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6790" y="6517481"/>
            <a:ext cx="8976420" cy="93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Controla la concurrencia de transacciones para evitar conflictos entre usuarios simultáneos.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1961" y="7963644"/>
            <a:ext cx="9566076" cy="136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Ejemplo: Una base de datos configurada para alta disponibilidad requiere crecimiento controlado, collation UTF-8 y nivel de aislamiento optimizado para múltiples conexiones.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108722"/>
            <a:chOff x="0" y="0"/>
            <a:chExt cx="24384000" cy="414496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145026"/>
            </a:xfrm>
            <a:custGeom>
              <a:avLst/>
              <a:gdLst/>
              <a:ahLst/>
              <a:cxnLst/>
              <a:rect r="r" b="b" t="t" l="l"/>
              <a:pathLst>
                <a:path h="414502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5026"/>
                  </a:lnTo>
                  <a:lnTo>
                    <a:pt x="0" y="4145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7" t="0" r="-57" b="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70346" y="3756571"/>
            <a:ext cx="15230624" cy="81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Tipos de Recuperación: Simple, Full y Bulk-Logged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70346" y="7272932"/>
            <a:ext cx="16547306" cy="28575"/>
            <a:chOff x="0" y="0"/>
            <a:chExt cx="22063075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63075" cy="38100"/>
            </a:xfrm>
            <a:custGeom>
              <a:avLst/>
              <a:gdLst/>
              <a:ahLst/>
              <a:cxnLst/>
              <a:rect r="r" b="b" t="t" l="l"/>
              <a:pathLst>
                <a:path h="38100" w="2206307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2044025" y="0"/>
                  </a:lnTo>
                  <a:cubicBezTo>
                    <a:pt x="22054565" y="0"/>
                    <a:pt x="22063075" y="8509"/>
                    <a:pt x="22063075" y="19050"/>
                  </a:cubicBezTo>
                  <a:cubicBezTo>
                    <a:pt x="22063075" y="29591"/>
                    <a:pt x="22054565" y="38100"/>
                    <a:pt x="2204402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15049" y="6526931"/>
            <a:ext cx="28575" cy="746075"/>
            <a:chOff x="0" y="0"/>
            <a:chExt cx="38100" cy="9947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" cy="994791"/>
            </a:xfrm>
            <a:custGeom>
              <a:avLst/>
              <a:gdLst/>
              <a:ahLst/>
              <a:cxnLst/>
              <a:rect r="r" b="b" t="t" l="l"/>
              <a:pathLst>
                <a:path h="994791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75741"/>
                  </a:lnTo>
                  <a:cubicBezTo>
                    <a:pt x="38100" y="986282"/>
                    <a:pt x="29591" y="994791"/>
                    <a:pt x="19050" y="994791"/>
                  </a:cubicBezTo>
                  <a:cubicBezTo>
                    <a:pt x="8509" y="994791"/>
                    <a:pt x="0" y="986282"/>
                    <a:pt x="0" y="975741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649689" y="6993210"/>
            <a:ext cx="559445" cy="559445"/>
            <a:chOff x="0" y="0"/>
            <a:chExt cx="745927" cy="7459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5998" cy="745998"/>
            </a:xfrm>
            <a:custGeom>
              <a:avLst/>
              <a:gdLst/>
              <a:ahLst/>
              <a:cxnLst/>
              <a:rect r="r" b="b" t="t" l="l"/>
              <a:pathLst>
                <a:path h="745998" w="745998">
                  <a:moveTo>
                    <a:pt x="0" y="49784"/>
                  </a:moveTo>
                  <a:cubicBezTo>
                    <a:pt x="0" y="22225"/>
                    <a:pt x="22225" y="0"/>
                    <a:pt x="49784" y="0"/>
                  </a:cubicBezTo>
                  <a:lnTo>
                    <a:pt x="696214" y="0"/>
                  </a:lnTo>
                  <a:cubicBezTo>
                    <a:pt x="723646" y="0"/>
                    <a:pt x="745998" y="22225"/>
                    <a:pt x="745998" y="49784"/>
                  </a:cubicBezTo>
                  <a:lnTo>
                    <a:pt x="745998" y="696214"/>
                  </a:lnTo>
                  <a:cubicBezTo>
                    <a:pt x="745998" y="723646"/>
                    <a:pt x="723773" y="745998"/>
                    <a:pt x="696214" y="745998"/>
                  </a:cubicBezTo>
                  <a:lnTo>
                    <a:pt x="49784" y="745998"/>
                  </a:lnTo>
                  <a:cubicBezTo>
                    <a:pt x="22225" y="745871"/>
                    <a:pt x="0" y="723646"/>
                    <a:pt x="0" y="696214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742855" y="7087344"/>
            <a:ext cx="372964" cy="418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75124" y="4935290"/>
            <a:ext cx="3108722" cy="39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Recuperación Simple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9039" y="5406330"/>
            <a:ext cx="7620892" cy="87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Sin registro de transacciones. Mínimo espacio, pero sin restauración punto a punto.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29564" y="7272859"/>
            <a:ext cx="28575" cy="746075"/>
            <a:chOff x="0" y="0"/>
            <a:chExt cx="38100" cy="9947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" cy="994791"/>
            </a:xfrm>
            <a:custGeom>
              <a:avLst/>
              <a:gdLst/>
              <a:ahLst/>
              <a:cxnLst/>
              <a:rect r="r" b="b" t="t" l="l"/>
              <a:pathLst>
                <a:path h="994791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75741"/>
                  </a:lnTo>
                  <a:cubicBezTo>
                    <a:pt x="38100" y="986282"/>
                    <a:pt x="29591" y="994791"/>
                    <a:pt x="19050" y="994791"/>
                  </a:cubicBezTo>
                  <a:cubicBezTo>
                    <a:pt x="8509" y="994791"/>
                    <a:pt x="0" y="986282"/>
                    <a:pt x="0" y="975741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864204" y="6993210"/>
            <a:ext cx="559445" cy="559445"/>
            <a:chOff x="0" y="0"/>
            <a:chExt cx="745927" cy="7459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5998" cy="745998"/>
            </a:xfrm>
            <a:custGeom>
              <a:avLst/>
              <a:gdLst/>
              <a:ahLst/>
              <a:cxnLst/>
              <a:rect r="r" b="b" t="t" l="l"/>
              <a:pathLst>
                <a:path h="745998" w="745998">
                  <a:moveTo>
                    <a:pt x="0" y="49784"/>
                  </a:moveTo>
                  <a:cubicBezTo>
                    <a:pt x="0" y="22225"/>
                    <a:pt x="22225" y="0"/>
                    <a:pt x="49784" y="0"/>
                  </a:cubicBezTo>
                  <a:lnTo>
                    <a:pt x="696214" y="0"/>
                  </a:lnTo>
                  <a:cubicBezTo>
                    <a:pt x="723646" y="0"/>
                    <a:pt x="745998" y="22225"/>
                    <a:pt x="745998" y="49784"/>
                  </a:cubicBezTo>
                  <a:lnTo>
                    <a:pt x="745998" y="696214"/>
                  </a:lnTo>
                  <a:cubicBezTo>
                    <a:pt x="745998" y="723646"/>
                    <a:pt x="723773" y="745998"/>
                    <a:pt x="696214" y="745998"/>
                  </a:cubicBezTo>
                  <a:lnTo>
                    <a:pt x="49784" y="745998"/>
                  </a:lnTo>
                  <a:cubicBezTo>
                    <a:pt x="22225" y="745871"/>
                    <a:pt x="0" y="723646"/>
                    <a:pt x="0" y="696214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957370" y="7087344"/>
            <a:ext cx="372964" cy="418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89639" y="8258175"/>
            <a:ext cx="3108722" cy="39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Recuperación Full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33554" y="8729216"/>
            <a:ext cx="7620892" cy="87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Registro completo. Restaura hasta un momento exacto con máxima precisión.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344079" y="6526931"/>
            <a:ext cx="28575" cy="746075"/>
            <a:chOff x="0" y="0"/>
            <a:chExt cx="38100" cy="9947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00" cy="994791"/>
            </a:xfrm>
            <a:custGeom>
              <a:avLst/>
              <a:gdLst/>
              <a:ahLst/>
              <a:cxnLst/>
              <a:rect r="r" b="b" t="t" l="l"/>
              <a:pathLst>
                <a:path h="994791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75741"/>
                  </a:lnTo>
                  <a:cubicBezTo>
                    <a:pt x="38100" y="986282"/>
                    <a:pt x="29591" y="994791"/>
                    <a:pt x="19050" y="994791"/>
                  </a:cubicBezTo>
                  <a:cubicBezTo>
                    <a:pt x="8509" y="994791"/>
                    <a:pt x="0" y="986282"/>
                    <a:pt x="0" y="975741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078717" y="6993210"/>
            <a:ext cx="559445" cy="559445"/>
            <a:chOff x="0" y="0"/>
            <a:chExt cx="745927" cy="7459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5998" cy="745998"/>
            </a:xfrm>
            <a:custGeom>
              <a:avLst/>
              <a:gdLst/>
              <a:ahLst/>
              <a:cxnLst/>
              <a:rect r="r" b="b" t="t" l="l"/>
              <a:pathLst>
                <a:path h="745998" w="745998">
                  <a:moveTo>
                    <a:pt x="0" y="49784"/>
                  </a:moveTo>
                  <a:cubicBezTo>
                    <a:pt x="0" y="22225"/>
                    <a:pt x="22225" y="0"/>
                    <a:pt x="49784" y="0"/>
                  </a:cubicBezTo>
                  <a:lnTo>
                    <a:pt x="696214" y="0"/>
                  </a:lnTo>
                  <a:cubicBezTo>
                    <a:pt x="723646" y="0"/>
                    <a:pt x="745998" y="22225"/>
                    <a:pt x="745998" y="49784"/>
                  </a:cubicBezTo>
                  <a:lnTo>
                    <a:pt x="745998" y="696214"/>
                  </a:lnTo>
                  <a:cubicBezTo>
                    <a:pt x="745998" y="723646"/>
                    <a:pt x="723773" y="745998"/>
                    <a:pt x="696214" y="745998"/>
                  </a:cubicBezTo>
                  <a:lnTo>
                    <a:pt x="49784" y="745998"/>
                  </a:lnTo>
                  <a:cubicBezTo>
                    <a:pt x="22225" y="745871"/>
                    <a:pt x="0" y="723646"/>
                    <a:pt x="0" y="696214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171885" y="7087344"/>
            <a:ext cx="372964" cy="418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04154" y="4935290"/>
            <a:ext cx="3108722" cy="39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Bulk-Logged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48069" y="5406330"/>
            <a:ext cx="7620892" cy="87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Balance óptimo para operaciones masivas con capacidad de recuperación controlada.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1767482"/>
            <a:ext cx="9445526" cy="182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Administración de Usuarios y Roles de Seguridad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4267200"/>
            <a:ext cx="437688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Estructura de Control de Acceso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7" y="5379392"/>
            <a:ext cx="4376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Logins a nivel de servidor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7" y="5932140"/>
            <a:ext cx="437688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Usuarios a nivel de base de datos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7" y="6938516"/>
            <a:ext cx="4376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Roles fijos predefinidos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0237" y="7491264"/>
            <a:ext cx="4376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Roles personalizados flexibles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28401" y="4267200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Beneficios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28401" y="4936480"/>
            <a:ext cx="4376886" cy="327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La delegación correcta de responsabilidades mediante roles evita accesos no autorizados y simplifica la auditoría de seguridad. Un usuario con permisos específicos solo accede a lo necesario.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8935"/>
            <a:chOff x="0" y="0"/>
            <a:chExt cx="9144000" cy="1371858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8539"/>
            </a:xfrm>
            <a:custGeom>
              <a:avLst/>
              <a:gdLst/>
              <a:ahLst/>
              <a:cxnLst/>
              <a:rect r="r" b="b" t="t" l="l"/>
              <a:pathLst>
                <a:path h="13718539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8539"/>
                  </a:lnTo>
                  <a:lnTo>
                    <a:pt x="0" y="1371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22555" y="700682"/>
            <a:ext cx="9500890" cy="1779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Asignación de Permisos y Políticas de Acceso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22555" y="2893665"/>
            <a:ext cx="275481" cy="2028825"/>
            <a:chOff x="0" y="0"/>
            <a:chExt cx="367308" cy="2705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7284" cy="2705100"/>
            </a:xfrm>
            <a:custGeom>
              <a:avLst/>
              <a:gdLst/>
              <a:ahLst/>
              <a:cxnLst/>
              <a:rect r="r" b="b" t="t" l="l"/>
              <a:pathLst>
                <a:path h="2705100" w="367284">
                  <a:moveTo>
                    <a:pt x="0" y="55118"/>
                  </a:moveTo>
                  <a:cubicBezTo>
                    <a:pt x="0" y="24638"/>
                    <a:pt x="24638" y="0"/>
                    <a:pt x="55118" y="0"/>
                  </a:cubicBezTo>
                  <a:lnTo>
                    <a:pt x="312166" y="0"/>
                  </a:lnTo>
                  <a:cubicBezTo>
                    <a:pt x="342646" y="0"/>
                    <a:pt x="367284" y="24638"/>
                    <a:pt x="367284" y="55118"/>
                  </a:cubicBezTo>
                  <a:lnTo>
                    <a:pt x="367284" y="2649982"/>
                  </a:lnTo>
                  <a:cubicBezTo>
                    <a:pt x="367284" y="2680462"/>
                    <a:pt x="342646" y="2705100"/>
                    <a:pt x="312166" y="2705100"/>
                  </a:cubicBezTo>
                  <a:lnTo>
                    <a:pt x="55118" y="2705100"/>
                  </a:lnTo>
                  <a:cubicBezTo>
                    <a:pt x="24638" y="2705100"/>
                    <a:pt x="0" y="2680462"/>
                    <a:pt x="0" y="2649982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373516" y="3140571"/>
            <a:ext cx="4993630" cy="4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Principio de Mínimos Permisos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73516" y="3669804"/>
            <a:ext cx="8949929" cy="97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Asigna solo las autorizaciones necesarias para cada tarea específica del usuario.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235851" y="5197971"/>
            <a:ext cx="275481" cy="2028825"/>
            <a:chOff x="0" y="0"/>
            <a:chExt cx="367308" cy="2705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7284" cy="2705100"/>
            </a:xfrm>
            <a:custGeom>
              <a:avLst/>
              <a:gdLst/>
              <a:ahLst/>
              <a:cxnLst/>
              <a:rect r="r" b="b" t="t" l="l"/>
              <a:pathLst>
                <a:path h="2705100" w="367284">
                  <a:moveTo>
                    <a:pt x="0" y="55118"/>
                  </a:moveTo>
                  <a:cubicBezTo>
                    <a:pt x="0" y="24638"/>
                    <a:pt x="24638" y="0"/>
                    <a:pt x="55118" y="0"/>
                  </a:cubicBezTo>
                  <a:lnTo>
                    <a:pt x="312166" y="0"/>
                  </a:lnTo>
                  <a:cubicBezTo>
                    <a:pt x="342646" y="0"/>
                    <a:pt x="367284" y="24638"/>
                    <a:pt x="367284" y="55118"/>
                  </a:cubicBezTo>
                  <a:lnTo>
                    <a:pt x="367284" y="2649982"/>
                  </a:lnTo>
                  <a:cubicBezTo>
                    <a:pt x="367284" y="2680462"/>
                    <a:pt x="342646" y="2705100"/>
                    <a:pt x="312166" y="2705100"/>
                  </a:cubicBezTo>
                  <a:lnTo>
                    <a:pt x="55118" y="2705100"/>
                  </a:lnTo>
                  <a:cubicBezTo>
                    <a:pt x="24638" y="2705100"/>
                    <a:pt x="0" y="2680462"/>
                    <a:pt x="0" y="2649982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786812" y="5444877"/>
            <a:ext cx="5682406" cy="4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Permisos Explícitos vs. Heredados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86812" y="5974110"/>
            <a:ext cx="8536632" cy="97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Los permisos directos prevalecen sobre los heredados de roles. Esto permite flexibilidad y granularidad en la seguridad.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649295" y="7502278"/>
            <a:ext cx="275481" cy="2028825"/>
            <a:chOff x="0" y="0"/>
            <a:chExt cx="367308" cy="2705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7284" cy="2705100"/>
            </a:xfrm>
            <a:custGeom>
              <a:avLst/>
              <a:gdLst/>
              <a:ahLst/>
              <a:cxnLst/>
              <a:rect r="r" b="b" t="t" l="l"/>
              <a:pathLst>
                <a:path h="2705100" w="367284">
                  <a:moveTo>
                    <a:pt x="0" y="55118"/>
                  </a:moveTo>
                  <a:cubicBezTo>
                    <a:pt x="0" y="24638"/>
                    <a:pt x="24638" y="0"/>
                    <a:pt x="55118" y="0"/>
                  </a:cubicBezTo>
                  <a:lnTo>
                    <a:pt x="312166" y="0"/>
                  </a:lnTo>
                  <a:cubicBezTo>
                    <a:pt x="342646" y="0"/>
                    <a:pt x="367284" y="24638"/>
                    <a:pt x="367284" y="55118"/>
                  </a:cubicBezTo>
                  <a:lnTo>
                    <a:pt x="367284" y="2649982"/>
                  </a:lnTo>
                  <a:cubicBezTo>
                    <a:pt x="367284" y="2680462"/>
                    <a:pt x="342646" y="2705100"/>
                    <a:pt x="312166" y="2705100"/>
                  </a:cubicBezTo>
                  <a:lnTo>
                    <a:pt x="55118" y="2705100"/>
                  </a:lnTo>
                  <a:cubicBezTo>
                    <a:pt x="24638" y="2705100"/>
                    <a:pt x="0" y="2680462"/>
                    <a:pt x="0" y="2649982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200258" y="7749182"/>
            <a:ext cx="3445223" cy="4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Auditoría Continua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00258" y="8278416"/>
            <a:ext cx="8123188" cy="97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Revisa regularmente qué permisos tiene cada usuario para evitar privilegios obsoletos o excesivos.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083618"/>
            <a:ext cx="9445526" cy="182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Monitoreo Básico con Activity Monitor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3337917"/>
            <a:ext cx="4580930" cy="3437484"/>
            <a:chOff x="0" y="0"/>
            <a:chExt cx="6107907" cy="45833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07811" cy="4583303"/>
            </a:xfrm>
            <a:custGeom>
              <a:avLst/>
              <a:gdLst/>
              <a:ahLst/>
              <a:cxnLst/>
              <a:rect r="r" b="b" t="t" l="l"/>
              <a:pathLst>
                <a:path h="4583303" w="6107811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169" y="0"/>
                  </a:lnTo>
                  <a:cubicBezTo>
                    <a:pt x="6082538" y="0"/>
                    <a:pt x="6107811" y="25400"/>
                    <a:pt x="6107811" y="56642"/>
                  </a:cubicBezTo>
                  <a:lnTo>
                    <a:pt x="6107811" y="4526661"/>
                  </a:lnTo>
                  <a:cubicBezTo>
                    <a:pt x="6107811" y="4558030"/>
                    <a:pt x="6082411" y="4583303"/>
                    <a:pt x="6051169" y="4583303"/>
                  </a:cubicBezTo>
                  <a:lnTo>
                    <a:pt x="56642" y="4583303"/>
                  </a:lnTo>
                  <a:cubicBezTo>
                    <a:pt x="25273" y="4583303"/>
                    <a:pt x="0" y="4557903"/>
                    <a:pt x="0" y="4526661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75755" y="3583335"/>
            <a:ext cx="401389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Procesos en Tiempo Real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5755" y="4582120"/>
            <a:ext cx="4013895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Visualiza todas las conexiones activas, consultas en ejecución y sesiones de usuarios conectados al servidor.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56685" y="3337917"/>
            <a:ext cx="4581079" cy="3437484"/>
            <a:chOff x="0" y="0"/>
            <a:chExt cx="6108105" cy="45833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8065" cy="4583303"/>
            </a:xfrm>
            <a:custGeom>
              <a:avLst/>
              <a:gdLst/>
              <a:ahLst/>
              <a:cxnLst/>
              <a:rect r="r" b="b" t="t" l="l"/>
              <a:pathLst>
                <a:path h="4583303" w="610806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423" y="0"/>
                  </a:lnTo>
                  <a:cubicBezTo>
                    <a:pt x="6082792" y="0"/>
                    <a:pt x="6108065" y="25400"/>
                    <a:pt x="6108065" y="56642"/>
                  </a:cubicBezTo>
                  <a:lnTo>
                    <a:pt x="6108065" y="4526661"/>
                  </a:lnTo>
                  <a:cubicBezTo>
                    <a:pt x="6108065" y="4558030"/>
                    <a:pt x="6082665" y="4583303"/>
                    <a:pt x="6051423" y="4583303"/>
                  </a:cubicBezTo>
                  <a:lnTo>
                    <a:pt x="56642" y="4583303"/>
                  </a:lnTo>
                  <a:cubicBezTo>
                    <a:pt x="25273" y="4583303"/>
                    <a:pt x="0" y="4557903"/>
                    <a:pt x="0" y="4526661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140202" y="3583335"/>
            <a:ext cx="401404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Identificación de Bloqueos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40202" y="4582120"/>
            <a:ext cx="4014044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Detecta consultas lentas, procesos bloqueados y cuellos de botella que afectan el rendimiento.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7058917"/>
            <a:ext cx="9445526" cy="2087315"/>
            <a:chOff x="0" y="0"/>
            <a:chExt cx="12594035" cy="27830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94082" cy="2783078"/>
            </a:xfrm>
            <a:custGeom>
              <a:avLst/>
              <a:gdLst/>
              <a:ahLst/>
              <a:cxnLst/>
              <a:rect r="r" b="b" t="t" l="l"/>
              <a:pathLst>
                <a:path h="2783078" w="1259408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2537313" y="0"/>
                  </a:lnTo>
                  <a:cubicBezTo>
                    <a:pt x="12568682" y="0"/>
                    <a:pt x="12594082" y="25400"/>
                    <a:pt x="12594082" y="56769"/>
                  </a:cubicBezTo>
                  <a:lnTo>
                    <a:pt x="12594082" y="2726309"/>
                  </a:lnTo>
                  <a:cubicBezTo>
                    <a:pt x="12594082" y="2757678"/>
                    <a:pt x="12568682" y="2783078"/>
                    <a:pt x="12537313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75755" y="7304335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Recursos del Sistema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5755" y="7860209"/>
            <a:ext cx="887849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Monitorea CPU, memoria y E/S para optimizar y prevenir problemas antes de que escalen.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8786"/>
            <a:chOff x="0" y="0"/>
            <a:chExt cx="9144000" cy="1371838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8412"/>
            </a:xfrm>
            <a:custGeom>
              <a:avLst/>
              <a:gdLst/>
              <a:ahLst/>
              <a:cxnLst/>
              <a:rect r="r" b="b" t="t" l="l"/>
              <a:pathLst>
                <a:path h="1371841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8412"/>
                  </a:lnTo>
                  <a:lnTo>
                    <a:pt x="0" y="13718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51861" y="654695"/>
            <a:ext cx="9642276" cy="164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true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SQL Server Agent: Automatización de Tareas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51861" y="2605236"/>
            <a:ext cx="9642276" cy="130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SQL Server Agent permite crear trabajos programados que se ejecutan automáticamente según un calendario definido, eliminando tareas manuales repetitivas y garantizando consistencia operativa.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751861" y="4194274"/>
            <a:ext cx="574625" cy="574625"/>
            <a:chOff x="0" y="0"/>
            <a:chExt cx="766167" cy="7661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6191" cy="766191"/>
            </a:xfrm>
            <a:custGeom>
              <a:avLst/>
              <a:gdLst/>
              <a:ahLst/>
              <a:cxnLst/>
              <a:rect r="r" b="b" t="t" l="l"/>
              <a:pathLst>
                <a:path h="766191" w="766191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715137" y="0"/>
                  </a:lnTo>
                  <a:cubicBezTo>
                    <a:pt x="743331" y="0"/>
                    <a:pt x="766191" y="22860"/>
                    <a:pt x="766191" y="51054"/>
                  </a:cubicBezTo>
                  <a:lnTo>
                    <a:pt x="766191" y="715137"/>
                  </a:lnTo>
                  <a:cubicBezTo>
                    <a:pt x="766191" y="743331"/>
                    <a:pt x="743331" y="766191"/>
                    <a:pt x="715137" y="766191"/>
                  </a:cubicBezTo>
                  <a:lnTo>
                    <a:pt x="51054" y="766191"/>
                  </a:lnTo>
                  <a:cubicBezTo>
                    <a:pt x="22860" y="766191"/>
                    <a:pt x="0" y="743331"/>
                    <a:pt x="0" y="715137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847559" y="4280222"/>
            <a:ext cx="383084" cy="44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81876" y="4253359"/>
            <a:ext cx="4307681" cy="42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Backups Automáticos Diarios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81876" y="4757886"/>
            <a:ext cx="8812262" cy="89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Programa copias de seguridad en horarios de bajo uso para proteger tus datos continuamente sin intervención manual.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751861" y="6161931"/>
            <a:ext cx="574625" cy="574625"/>
            <a:chOff x="0" y="0"/>
            <a:chExt cx="766167" cy="7661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6191" cy="766191"/>
            </a:xfrm>
            <a:custGeom>
              <a:avLst/>
              <a:gdLst/>
              <a:ahLst/>
              <a:cxnLst/>
              <a:rect r="r" b="b" t="t" l="l"/>
              <a:pathLst>
                <a:path h="766191" w="766191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715137" y="0"/>
                  </a:lnTo>
                  <a:cubicBezTo>
                    <a:pt x="743331" y="0"/>
                    <a:pt x="766191" y="22860"/>
                    <a:pt x="766191" y="51054"/>
                  </a:cubicBezTo>
                  <a:lnTo>
                    <a:pt x="766191" y="715137"/>
                  </a:lnTo>
                  <a:cubicBezTo>
                    <a:pt x="766191" y="743331"/>
                    <a:pt x="743331" y="766191"/>
                    <a:pt x="715137" y="766191"/>
                  </a:cubicBezTo>
                  <a:lnTo>
                    <a:pt x="51054" y="766191"/>
                  </a:lnTo>
                  <a:cubicBezTo>
                    <a:pt x="22860" y="766191"/>
                    <a:pt x="0" y="743331"/>
                    <a:pt x="0" y="715137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847559" y="6247879"/>
            <a:ext cx="383084" cy="44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81876" y="6221016"/>
            <a:ext cx="3829050" cy="42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Mantenimiento Preventivo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81876" y="6725542"/>
            <a:ext cx="8812262" cy="89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Desfragmenta índices, actualiza estadísticas y limpia logs antiguos automáticamente para mantener óptimo rendimiento.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751861" y="8129588"/>
            <a:ext cx="574625" cy="574625"/>
            <a:chOff x="0" y="0"/>
            <a:chExt cx="766167" cy="7661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6191" cy="766191"/>
            </a:xfrm>
            <a:custGeom>
              <a:avLst/>
              <a:gdLst/>
              <a:ahLst/>
              <a:cxnLst/>
              <a:rect r="r" b="b" t="t" l="l"/>
              <a:pathLst>
                <a:path h="766191" w="766191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715137" y="0"/>
                  </a:lnTo>
                  <a:cubicBezTo>
                    <a:pt x="743331" y="0"/>
                    <a:pt x="766191" y="22860"/>
                    <a:pt x="766191" y="51054"/>
                  </a:cubicBezTo>
                  <a:lnTo>
                    <a:pt x="766191" y="715137"/>
                  </a:lnTo>
                  <a:cubicBezTo>
                    <a:pt x="766191" y="743331"/>
                    <a:pt x="743331" y="766191"/>
                    <a:pt x="715137" y="766191"/>
                  </a:cubicBezTo>
                  <a:lnTo>
                    <a:pt x="51054" y="766191"/>
                  </a:lnTo>
                  <a:cubicBezTo>
                    <a:pt x="22860" y="766191"/>
                    <a:pt x="0" y="743331"/>
                    <a:pt x="0" y="715137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847559" y="8215536"/>
            <a:ext cx="383084" cy="44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81876" y="8188673"/>
            <a:ext cx="3192364" cy="42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Alertas por Correo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81876" y="8693200"/>
            <a:ext cx="8812262" cy="89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Recibe notificaciones inmediatas sobre errores críticos, fallos de backup o anomalías detectadas en el servidor.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1310580"/>
            <a:ext cx="9445526" cy="182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Caso Práctico: Gestión Integral en Acción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3469630"/>
            <a:ext cx="944552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Implementar buenas prácticas desde el inicio multiplica la efectividad operativa y reduce drásticamente incidentes críticos.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7" y="5036492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Sin Optimización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7" y="5705772"/>
            <a:ext cx="4376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Configuración por defecto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7" y="6258520"/>
            <a:ext cx="4376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Backups manuales irregulares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0237" y="6811267"/>
            <a:ext cx="4376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Sin monitoreo proactivo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50237" y="7364016"/>
            <a:ext cx="437688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Fallos frecuentes (60+ horas/año inactivo)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28401" y="5036492"/>
            <a:ext cx="371936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Con Mejores Prácticas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28401" y="5705772"/>
            <a:ext cx="4376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Configuración optimizada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28401" y="6258520"/>
            <a:ext cx="437688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Backups automáticos garantizados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28401" y="7264896"/>
            <a:ext cx="4376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Monitoreo 24/7 activo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28401" y="7817644"/>
            <a:ext cx="437688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99.9% disponibilidad confirmada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614345" y="1048642"/>
            <a:ext cx="7291387" cy="71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250" b="true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Conclusión y Próximos Pasos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14345" y="2019449"/>
            <a:ext cx="9917311" cy="286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 b="true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La administración diaria eficiente es clave para estabilidad y seguridad.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7695308" y="5212332"/>
            <a:ext cx="324147" cy="324147"/>
          </a:xfrm>
          <a:custGeom>
            <a:avLst/>
            <a:gdLst/>
            <a:ahLst/>
            <a:cxnLst/>
            <a:rect r="r" b="b" t="t" l="l"/>
            <a:pathLst>
              <a:path h="324147" w="324147">
                <a:moveTo>
                  <a:pt x="0" y="0"/>
                </a:moveTo>
                <a:lnTo>
                  <a:pt x="324147" y="0"/>
                </a:lnTo>
                <a:lnTo>
                  <a:pt x="324147" y="324148"/>
                </a:lnTo>
                <a:lnTo>
                  <a:pt x="0" y="3241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2" t="0" r="-7142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316665" y="5186660"/>
            <a:ext cx="2834729" cy="35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Capacitación Continua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16665" y="5606206"/>
            <a:ext cx="9214991" cy="412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Mantente actualizado con las mejores prácticas y nuevas características de SQL Server.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7695308" y="6457429"/>
            <a:ext cx="324147" cy="324147"/>
          </a:xfrm>
          <a:custGeom>
            <a:avLst/>
            <a:gdLst/>
            <a:ahLst/>
            <a:cxnLst/>
            <a:rect r="r" b="b" t="t" l="l"/>
            <a:pathLst>
              <a:path h="324147" w="324147">
                <a:moveTo>
                  <a:pt x="0" y="0"/>
                </a:moveTo>
                <a:lnTo>
                  <a:pt x="324147" y="0"/>
                </a:lnTo>
                <a:lnTo>
                  <a:pt x="324147" y="324147"/>
                </a:lnTo>
                <a:lnTo>
                  <a:pt x="0" y="3241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2" t="0" r="-7142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316665" y="6431756"/>
            <a:ext cx="3239691" cy="35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Usa Herramientas Nativas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16665" y="6851302"/>
            <a:ext cx="9214991" cy="75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Domina SQL Server Management Studio, Activity Monitor y SQL Server Agent para máxima eficiencia.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7695308" y="8048252"/>
            <a:ext cx="324147" cy="324147"/>
          </a:xfrm>
          <a:custGeom>
            <a:avLst/>
            <a:gdLst/>
            <a:ahLst/>
            <a:cxnLst/>
            <a:rect r="r" b="b" t="t" l="l"/>
            <a:pathLst>
              <a:path h="324147" w="324147">
                <a:moveTo>
                  <a:pt x="0" y="0"/>
                </a:moveTo>
                <a:lnTo>
                  <a:pt x="324147" y="0"/>
                </a:lnTo>
                <a:lnTo>
                  <a:pt x="324147" y="324148"/>
                </a:lnTo>
                <a:lnTo>
                  <a:pt x="0" y="3241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2" t="0" r="-7142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316665" y="8022580"/>
            <a:ext cx="2701230" cy="35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 b="true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Asegura el Éxito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16665" y="8442126"/>
            <a:ext cx="9214991" cy="75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Implementa estas prácticas hoy y garantiza disponibilidad, seguridad y rendimiento sostenible de tus datos.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DAG32bjJhmE</dc:identifier>
  <dcterms:modified xsi:type="dcterms:W3CDTF">2011-08-01T06:04:30Z</dcterms:modified>
  <cp:revision>1</cp:revision>
  <dc:title>Administracion-Esencial.pptx</dc:title>
</cp:coreProperties>
</file>